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016강에서 계산하는 연산자를 배웠다면, 018강은 판단하는 연산자입니다. 결과가 오직 True/False 두 가지뿐이라는 점이 핵심이며, 다음 강의 if문의 재료가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비교 연산자의 결과는 반드시 True 아니면 False 하나입니다. 숫자가 나오는 산술 연산자와 결정적으로 다른 점이라고 강조해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한 줄씩 읽으며 a=10, b=20을 대입해 결과를 함께 확인합니다. 부등호가 먼저, 등호(=)가 뒤에 온다는 순서(&gt;=, &lt;=)를 꼭 짚어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초보자가 논리 버그를 가장 많이 만드는 지점입니다. '19세도 성인인가?'처럼 경계값을 말로 먼저 확인하는 습관을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 는 명령문, == 는 질문입니다. 이 한 문장으로 정리해 주세요. 실제로 코드를 실행해 SyntaxError 메시지를 눈으로 보여주면 기억에 오래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12강에서 배운 type() 함수를 다시 꺼내 결과가 bool임을 눈으로 확인시킵니다. True/False 대소문자 실수는 실제로 매우 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 로 같은지는 물어볼 수 있지만(False), 다른 타입끼리 크기 비교는 TypeError입니다. input()과 형변환 이야기의 복선입니다.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비교 연산자가 왜 필요한지를 실제 사례로 못 박는 슬라이드입니다. if문 예고로 자연스럽게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함정 모두 실제 수업에서 반복적으로 나오는 질문입니다. 특히 0.1 + 0.2 == 0.3 은 직접 실행해 보여주면 반응이 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요약 4줄을 학습자가 스스로 말해보게 하면 좋습니다. 019강에서는 조건을 여러 개 결합하는 and / or / not 을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280160"/>
            <a:ext cx="4937760" cy="493776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77724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334155"/>
                </a:solidFill>
                <a:latin typeface="Consolas"/>
              </a:rPr>
              <a:t>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D43B"/>
                </a:solidFill>
                <a:latin typeface="Calibri"/>
              </a:rPr>
              <a:t>STAGE 2 · 연산자와 제어문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4B8BBE"/>
                </a:solidFill>
                <a:latin typeface="Calibri"/>
              </a:rPr>
              <a:t>018강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2E8F0"/>
                </a:solidFill>
                <a:latin typeface="Calibri"/>
              </a:rPr>
              <a:t>비교 연산자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참(True)과 거짓(False), 프로그램이 판단하는 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104952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D43B"/>
                </a:solidFill>
                <a:latin typeface="Consolas"/>
              </a:rPr>
              <a:t>==   !=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1088" y="4526280"/>
            <a:ext cx="864616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B8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4B8BBE"/>
                </a:solidFill>
                <a:latin typeface="Consolas"/>
              </a:rPr>
              <a:t>&gt;   &lt;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94304" y="4526280"/>
            <a:ext cx="104952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4ADE80"/>
                </a:solidFill>
                <a:latin typeface="Consolas"/>
              </a:rPr>
              <a:t>&gt;=   &lt;=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파이썬 100강 마스터 클래스 · 왕초보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43B"/>
                </a:solidFill>
                <a:latin typeface="Calibri"/>
              </a:rPr>
              <a:t>01.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비교 연산자란 무엇인가?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169164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43B"/>
                </a:solidFill>
                <a:latin typeface="Calibri"/>
              </a:rPr>
              <a:t>우리의 일상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이 물건이 저 물건보다 더 비싼가?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두 사람의 나이가 같은가?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349240" cy="169164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B8BBE"/>
                </a:solidFill>
                <a:latin typeface="Calibri"/>
              </a:rPr>
              <a:t>컴퓨터 프로그램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1284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입력한 비밀번호가 저장된 값과 일치하는가?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캐릭터의 체력(HP)이 0 이하로 떨어졌는가?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1621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75887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Calibri"/>
              </a:rPr>
              <a:t>비교 연산자는 양옆의 두 값을 비교해 오직 참(True) 또는 거짓(False) 만 돌려줍니다. → 자료형은 bool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17720"/>
            <a:ext cx="10881360" cy="1405890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617720"/>
            <a:ext cx="10881360" cy="3108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72287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976" y="472287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4712" y="472287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663440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compare.py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5020056"/>
            <a:ext cx="10515600" cy="948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4B8BBE"/>
                </a:solidFill>
                <a:latin typeface="Consolas"/>
              </a:rPr>
              <a:t>print</a:t>
            </a:r>
            <a:r>
              <a:rPr sz="1300">
                <a:solidFill>
                  <a:srgbClr val="E2E8F0"/>
                </a:solidFill>
                <a:latin typeface="Consolas"/>
              </a:rPr>
              <a:t>(</a:t>
            </a:r>
            <a:r>
              <a:rPr sz="1300">
                <a:solidFill>
                  <a:srgbClr val="E2E8F0"/>
                </a:solidFill>
                <a:latin typeface="Consolas"/>
              </a:rPr>
              <a:t>10 &gt; 3</a:t>
            </a:r>
            <a:r>
              <a:rPr sz="1300">
                <a:solidFill>
                  <a:srgbClr val="E2E8F0"/>
                </a:solidFill>
                <a:latin typeface="Consolas"/>
              </a:rPr>
              <a:t>)</a:t>
            </a:r>
            <a:r>
              <a:rPr sz="1300">
                <a:solidFill>
                  <a:srgbClr val="4ADE80"/>
                </a:solidFill>
                <a:latin typeface="Consolas"/>
              </a:rPr>
              <a:t>      # True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4B8BBE"/>
                </a:solidFill>
                <a:latin typeface="Consolas"/>
              </a:rPr>
              <a:t>print</a:t>
            </a:r>
            <a:r>
              <a:rPr sz="1300">
                <a:solidFill>
                  <a:srgbClr val="E2E8F0"/>
                </a:solidFill>
                <a:latin typeface="Consolas"/>
              </a:rPr>
              <a:t>(</a:t>
            </a:r>
            <a:r>
              <a:rPr sz="1300">
                <a:solidFill>
                  <a:srgbClr val="E2E8F0"/>
                </a:solidFill>
                <a:latin typeface="Consolas"/>
              </a:rPr>
              <a:t>10 == 3</a:t>
            </a:r>
            <a:r>
              <a:rPr sz="1300">
                <a:solidFill>
                  <a:srgbClr val="E2E8F0"/>
                </a:solidFill>
                <a:latin typeface="Consolas"/>
              </a:rPr>
              <a:t>)</a:t>
            </a:r>
            <a:r>
              <a:rPr sz="1300">
                <a:solidFill>
                  <a:srgbClr val="FB7185"/>
                </a:solidFill>
                <a:latin typeface="Consolas"/>
              </a:rPr>
              <a:t>     # False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4B8BBE"/>
                </a:solidFill>
                <a:latin typeface="Consolas"/>
              </a:rPr>
              <a:t>print</a:t>
            </a:r>
            <a:r>
              <a:rPr sz="1300">
                <a:solidFill>
                  <a:srgbClr val="E2E8F0"/>
                </a:solidFill>
                <a:latin typeface="Consolas"/>
              </a:rPr>
              <a:t>(</a:t>
            </a:r>
            <a:r>
              <a:rPr sz="1300">
                <a:solidFill>
                  <a:srgbClr val="E2E8F0"/>
                </a:solidFill>
                <a:latin typeface="Consolas"/>
              </a:rPr>
              <a:t>10 != 3</a:t>
            </a:r>
            <a:r>
              <a:rPr sz="1300">
                <a:solidFill>
                  <a:srgbClr val="E2E8F0"/>
                </a:solidFill>
                <a:latin typeface="Consolas"/>
              </a:rPr>
              <a:t>)</a:t>
            </a:r>
            <a:r>
              <a:rPr sz="1300">
                <a:solidFill>
                  <a:srgbClr val="4ADE80"/>
                </a:solidFill>
                <a:latin typeface="Consolas"/>
              </a:rPr>
              <a:t>     # 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파이썬 100강 마스터 클래스 · 018강 비교 연산자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43B"/>
                </a:solidFill>
                <a:latin typeface="Calibri"/>
              </a:rPr>
              <a:t>02. 종류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비교 연산자 6가지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onsolas"/>
              </a:rPr>
              <a:t>a = 10,  b = 20  일 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19072"/>
          <a:ext cx="1088136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  <a:tableStyleId>{2D5ABB26-0587-4C30-8999-92F81FD0307C}</a:tableStyleId>
              </a:tblPr>
              <a:tblGrid>
                <a:gridCol w="1554480"/>
                <a:gridCol w="4572000"/>
                <a:gridCol w="2468880"/>
                <a:gridCol w="22860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D43B"/>
                          </a:solidFill>
                          <a:latin typeface="Calibri"/>
                        </a:rPr>
                        <a:t>연산자</a:t>
                      </a:r>
                    </a:p>
                  </a:txBody>
                  <a:tcPr anchor="ctr" marL="128016" marR="12801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D43B"/>
                          </a:solidFill>
                          <a:latin typeface="Calibri"/>
                        </a:rPr>
                        <a:t>의미</a:t>
                      </a:r>
                    </a:p>
                  </a:txBody>
                  <a:tcPr anchor="ctr" marL="128016" marR="12801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D43B"/>
                          </a:solidFill>
                          <a:latin typeface="Calibri"/>
                        </a:rPr>
                        <a:t>예시</a:t>
                      </a:r>
                    </a:p>
                  </a:txBody>
                  <a:tcPr anchor="ctr" marL="128016" marR="12801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D43B"/>
                          </a:solidFill>
                          <a:latin typeface="Calibri"/>
                        </a:rPr>
                        <a:t>결과</a:t>
                      </a:r>
                    </a:p>
                  </a:txBody>
                  <a:tcPr anchor="ctr" marL="128016" marR="128016" marT="36576" marB="36576">
                    <a:solidFill>
                      <a:srgbClr val="1E29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D43B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2E8F0"/>
                          </a:solidFill>
                          <a:latin typeface="Calibri"/>
                        </a:rPr>
                        <a:t>양쪽의 값이 같으면 참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94A3B8"/>
                          </a:solidFill>
                          <a:latin typeface="Consolas"/>
                        </a:rPr>
                        <a:t>a == b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B7185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D43B"/>
                          </a:solidFill>
                          <a:latin typeface="Consolas"/>
                        </a:rPr>
                        <a:t>!=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2E8F0"/>
                          </a:solidFill>
                          <a:latin typeface="Calibri"/>
                        </a:rPr>
                        <a:t>양쪽의 값이 다르면 참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94A3B8"/>
                          </a:solidFill>
                          <a:latin typeface="Consolas"/>
                        </a:rPr>
                        <a:t>a != b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DE80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D43B"/>
                          </a:solidFill>
                          <a:latin typeface="Consolas"/>
                        </a:rPr>
                        <a:t>&gt;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2E8F0"/>
                          </a:solidFill>
                          <a:latin typeface="Calibri"/>
                        </a:rPr>
                        <a:t>왼쪽 값이 더 크면 참 (초과)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94A3B8"/>
                          </a:solidFill>
                          <a:latin typeface="Consolas"/>
                        </a:rPr>
                        <a:t>a &gt; b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B7185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D43B"/>
                          </a:solidFill>
                          <a:latin typeface="Consolas"/>
                        </a:rPr>
                        <a:t>&lt;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2E8F0"/>
                          </a:solidFill>
                          <a:latin typeface="Calibri"/>
                        </a:rPr>
                        <a:t>왼쪽 값이 더 작으면 참 (미만)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94A3B8"/>
                          </a:solidFill>
                          <a:latin typeface="Consolas"/>
                        </a:rPr>
                        <a:t>a &lt; b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DE80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D43B"/>
                          </a:solidFill>
                          <a:latin typeface="Consolas"/>
                        </a:rPr>
                        <a:t>&gt;=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2E8F0"/>
                          </a:solidFill>
                          <a:latin typeface="Calibri"/>
                        </a:rPr>
                        <a:t>왼쪽 값이 크거나 같으면 참 (이상)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94A3B8"/>
                          </a:solidFill>
                          <a:latin typeface="Consolas"/>
                        </a:rPr>
                        <a:t>a &gt;= b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B7185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anchor="ctr" marL="128016" marR="128016" marT="36576" marB="36576">
                    <a:solidFill>
                      <a:srgbClr val="1B253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D43B"/>
                          </a:solidFill>
                          <a:latin typeface="Consolas"/>
                        </a:rPr>
                        <a:t>&lt;=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2E8F0"/>
                          </a:solidFill>
                          <a:latin typeface="Calibri"/>
                        </a:rPr>
                        <a:t>왼쪽 값이 작거나 같으면 참 (이하)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94A3B8"/>
                          </a:solidFill>
                          <a:latin typeface="Consolas"/>
                        </a:rPr>
                        <a:t>a &lt;= b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DE80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anchor="ctr" marL="128016" marR="128016" marT="36576" marB="36576">
                    <a:solidFill>
                      <a:srgbClr val="16213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692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수학의  ≥  ≤  ≠  기호는 키보드에 없습니다. 그래서 파이썬은  &gt;=   &lt;=   !=  로 대신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파이썬 100강 마스터 클래스 · 018강 비교 연산자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43B"/>
                </a:solidFill>
                <a:latin typeface="Calibri"/>
              </a:rPr>
              <a:t>03. 헷갈리는 경계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&gt; 와 &gt;= 는 무엇이 다른가?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320040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43B"/>
                </a:solidFill>
                <a:latin typeface="Consolas"/>
              </a:rPr>
              <a:t>&gt;   초과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기준값 자기 자신은 포함하지 않는다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97480"/>
            <a:ext cx="4800600" cy="1344168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697480"/>
            <a:ext cx="4800600" cy="3108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80263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5295" y="280263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9031" y="280263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743200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099816"/>
            <a:ext cx="4434840" cy="886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x = </a:t>
            </a:r>
            <a:r>
              <a:rPr sz="1200">
                <a:solidFill>
                  <a:srgbClr val="93C5FD"/>
                </a:solidFill>
                <a:latin typeface="Consolas"/>
              </a:rPr>
              <a:t>10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4B8BBE"/>
                </a:solidFill>
                <a:latin typeface="Consolas"/>
              </a:rPr>
              <a:t>print</a:t>
            </a:r>
            <a:r>
              <a:rPr sz="1200">
                <a:solidFill>
                  <a:srgbClr val="E2E8F0"/>
                </a:solidFill>
                <a:latin typeface="Consolas"/>
              </a:rPr>
              <a:t>(x &gt; </a:t>
            </a:r>
            <a:r>
              <a:rPr sz="1200">
                <a:solidFill>
                  <a:srgbClr val="93C5FD"/>
                </a:solidFill>
                <a:latin typeface="Consolas"/>
              </a:rPr>
              <a:t>10</a:t>
            </a:r>
            <a:r>
              <a:rPr sz="12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FB7185"/>
                </a:solidFill>
                <a:latin typeface="Consolas"/>
              </a:rPr>
              <a:t># False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54480"/>
            <a:ext cx="5349240" cy="320040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4ADE80"/>
                </a:solidFill>
                <a:latin typeface="Consolas"/>
              </a:rPr>
              <a:t>&gt;=   이상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기준값 자기 자신을 포함한다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697480"/>
            <a:ext cx="4800600" cy="1344168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2697480"/>
            <a:ext cx="4800600" cy="3108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280263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57416" y="280263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31152" y="280263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9752" y="2743200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3099816"/>
            <a:ext cx="4434840" cy="886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x = </a:t>
            </a:r>
            <a:r>
              <a:rPr sz="1200">
                <a:solidFill>
                  <a:srgbClr val="93C5FD"/>
                </a:solidFill>
                <a:latin typeface="Consolas"/>
              </a:rPr>
              <a:t>10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4B8BBE"/>
                </a:solidFill>
                <a:latin typeface="Consolas"/>
              </a:rPr>
              <a:t>print</a:t>
            </a:r>
            <a:r>
              <a:rPr sz="1200">
                <a:solidFill>
                  <a:srgbClr val="E2E8F0"/>
                </a:solidFill>
                <a:latin typeface="Consolas"/>
              </a:rPr>
              <a:t>(x &gt;= </a:t>
            </a:r>
            <a:r>
              <a:rPr sz="1200">
                <a:solidFill>
                  <a:srgbClr val="93C5FD"/>
                </a:solidFill>
                <a:latin typeface="Consolas"/>
              </a:rPr>
              <a:t>10</a:t>
            </a:r>
            <a:r>
              <a:rPr sz="12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4ADE80"/>
                </a:solidFill>
                <a:latin typeface="Consolas"/>
              </a:rPr>
              <a:t># 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8348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1621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2688" y="5358384"/>
            <a:ext cx="219456" cy="219456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512064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2E8F0"/>
                </a:solidFill>
                <a:latin typeface="Calibri"/>
              </a:rPr>
              <a:t>성인 판별을  age &gt;= 19  로 쓰면 19세가 포함되고,  age &gt; 19  로 쓰면 19세가 제외됩니다.
경계값 하나가 서비스 정책을 통째로 바꿉니다. '이상/이하'인지 '초과/미만'인지 항상 확인하세요.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파이썬 100강 마스터 클래스 · 018강 비교 연산자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43B"/>
                </a:solidFill>
                <a:latin typeface="Calibri"/>
              </a:rPr>
              <a:t>04. 초보자 최대 실수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=  와  ==  는 완전히 다르다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288036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4B8BBE"/>
                </a:solidFill>
                <a:latin typeface="Consolas"/>
              </a:rPr>
              <a:t>=     대입 연산자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"오른쪽 값을 왼쪽 변수에 넣어라"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97480"/>
            <a:ext cx="4800600" cy="850392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697480"/>
            <a:ext cx="4800600" cy="3108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80263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5295" y="280263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9031" y="280263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743200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assign.py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099816"/>
            <a:ext cx="443484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x = </a:t>
            </a:r>
            <a:r>
              <a:rPr sz="1200">
                <a:solidFill>
                  <a:srgbClr val="93C5FD"/>
                </a:solidFill>
                <a:latin typeface="Consolas"/>
              </a:rPr>
              <a:t>10</a:t>
            </a:r>
            <a:r>
              <a:rPr sz="1200">
                <a:solidFill>
                  <a:srgbClr val="64748B"/>
                </a:solidFill>
                <a:latin typeface="Consolas"/>
              </a:rPr>
              <a:t>        # 저장(명령)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54480"/>
            <a:ext cx="5349240" cy="288036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D43B"/>
                </a:solidFill>
                <a:latin typeface="Consolas"/>
              </a:rPr>
              <a:t>==    비교 연산자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"양쪽 값이 같은지 물어보라"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697480"/>
            <a:ext cx="4800600" cy="850392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2697480"/>
            <a:ext cx="4800600" cy="3108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280263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57416" y="280263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31152" y="280263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9752" y="2743200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compare.py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3099816"/>
            <a:ext cx="443484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x == </a:t>
            </a:r>
            <a:r>
              <a:rPr sz="1200">
                <a:solidFill>
                  <a:srgbClr val="93C5FD"/>
                </a:solidFill>
                <a:latin typeface="Consolas"/>
              </a:rPr>
              <a:t>10</a:t>
            </a:r>
            <a:r>
              <a:rPr sz="1200">
                <a:solidFill>
                  <a:srgbClr val="64748B"/>
                </a:solidFill>
                <a:latin typeface="Consolas"/>
              </a:rPr>
              <a:t>       # 질문(True)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63440"/>
            <a:ext cx="10881360" cy="1325880"/>
          </a:xfrm>
          <a:prstGeom prst="roundRect">
            <a:avLst>
              <a:gd name="adj" fmla="val 5000"/>
            </a:avLst>
          </a:prstGeom>
          <a:solidFill>
            <a:srgbClr val="162134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2688" y="4974336"/>
            <a:ext cx="237744" cy="237744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82803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B7185"/>
                </a:solidFill>
                <a:latin typeface="Calibri"/>
              </a:rPr>
              <a:t>= 하나만 쓰면?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9379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2E8F0"/>
                </a:solidFill>
                <a:latin typeface="Calibri"/>
              </a:rPr>
              <a:t>파이썬이 '대입 명령'으로 읽어
문법 오류(SyntaxError)를 냅니다.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800600"/>
            <a:ext cx="4800600" cy="850392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4800600"/>
            <a:ext cx="4800600" cy="3108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83680" y="490575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7416" y="490575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31152" y="490575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9752" y="4846320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error.py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7688" y="5202936"/>
            <a:ext cx="443484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4B8BBE"/>
                </a:solidFill>
                <a:latin typeface="Consolas"/>
              </a:rPr>
              <a:t>if</a:t>
            </a:r>
            <a:r>
              <a:rPr sz="1200">
                <a:solidFill>
                  <a:srgbClr val="E2E8F0"/>
                </a:solidFill>
                <a:latin typeface="Consolas"/>
              </a:rPr>
              <a:t> x = </a:t>
            </a:r>
            <a:r>
              <a:rPr sz="1200">
                <a:solidFill>
                  <a:srgbClr val="93C5FD"/>
                </a:solidFill>
                <a:latin typeface="Consolas"/>
              </a:rPr>
              <a:t>10</a:t>
            </a:r>
            <a:r>
              <a:rPr sz="1200">
                <a:solidFill>
                  <a:srgbClr val="E2E8F0"/>
                </a:solidFill>
                <a:latin typeface="Consolas"/>
              </a:rPr>
              <a:t>:</a:t>
            </a:r>
            <a:r>
              <a:rPr sz="1200">
                <a:solidFill>
                  <a:srgbClr val="FB7185"/>
                </a:solidFill>
                <a:latin typeface="Consolas"/>
              </a:rPr>
              <a:t>   # SyntaxError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파이썬 100강 마스터 클래스 · 018강 비교 연산자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43B"/>
                </a:solidFill>
                <a:latin typeface="Calibri"/>
              </a:rPr>
              <a:t>05. 결과의 정체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비교의 결과는 언제나 bool 이다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467612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3108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5963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65963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65963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1600200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bool.py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56816"/>
            <a:ext cx="10515600" cy="10104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E2E8F0"/>
                </a:solidFill>
                <a:latin typeface="Consolas"/>
              </a:rPr>
              <a:t>result = </a:t>
            </a:r>
            <a:r>
              <a:rPr sz="1400">
                <a:solidFill>
                  <a:srgbClr val="93C5FD"/>
                </a:solidFill>
                <a:latin typeface="Consolas"/>
              </a:rPr>
              <a:t>10</a:t>
            </a:r>
            <a:r>
              <a:rPr sz="1400">
                <a:solidFill>
                  <a:srgbClr val="E2E8F0"/>
                </a:solidFill>
                <a:latin typeface="Consolas"/>
              </a:rPr>
              <a:t> &gt; </a:t>
            </a:r>
            <a:r>
              <a:rPr sz="1400">
                <a:solidFill>
                  <a:srgbClr val="93C5FD"/>
                </a:solidFill>
                <a:latin typeface="Consolas"/>
              </a:rPr>
              <a:t>3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4B8BBE"/>
                </a:solidFill>
                <a:latin typeface="Consolas"/>
              </a:rPr>
              <a:t>print</a:t>
            </a:r>
            <a:r>
              <a:rPr sz="1400">
                <a:solidFill>
                  <a:srgbClr val="E2E8F0"/>
                </a:solidFill>
                <a:latin typeface="Consolas"/>
              </a:rPr>
              <a:t>(result)</a:t>
            </a:r>
            <a:r>
              <a:rPr sz="1400">
                <a:solidFill>
                  <a:srgbClr val="4ADE80"/>
                </a:solidFill>
                <a:latin typeface="Consolas"/>
              </a:rPr>
              <a:t>            # True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4B8BBE"/>
                </a:solidFill>
                <a:latin typeface="Consolas"/>
              </a:rPr>
              <a:t>print</a:t>
            </a:r>
            <a:r>
              <a:rPr sz="1400">
                <a:solidFill>
                  <a:srgbClr val="E2E8F0"/>
                </a:solidFill>
                <a:latin typeface="Consolas"/>
              </a:rPr>
              <a:t>(</a:t>
            </a:r>
            <a:r>
              <a:rPr sz="1400">
                <a:solidFill>
                  <a:srgbClr val="4B8BBE"/>
                </a:solidFill>
                <a:latin typeface="Consolas"/>
              </a:rPr>
              <a:t>type</a:t>
            </a:r>
            <a:r>
              <a:rPr sz="1400">
                <a:solidFill>
                  <a:srgbClr val="E2E8F0"/>
                </a:solidFill>
                <a:latin typeface="Consolas"/>
              </a:rPr>
              <a:t>(result))</a:t>
            </a:r>
            <a:r>
              <a:rPr sz="1400">
                <a:solidFill>
                  <a:srgbClr val="64748B"/>
                </a:solidFill>
                <a:latin typeface="Consolas"/>
              </a:rPr>
              <a:t>      # &lt;class 'bool'&gt;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5349240" cy="192024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B8BBE"/>
                </a:solidFill>
                <a:latin typeface="Calibri"/>
              </a:rPr>
              <a:t>012강 type() 과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2452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2E8F0"/>
                </a:solidFill>
                <a:latin typeface="Calibri"/>
              </a:rPr>
              <a:t>어떤 값을 비교하든 결과의 타입은 늘 bool 하나입니다.
숫자를 비교해도, 문자열을 비교해도 마찬가지입니다.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611880"/>
            <a:ext cx="5349240" cy="192024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43B"/>
                </a:solidFill>
                <a:latin typeface="Calibri"/>
              </a:rPr>
              <a:t>대소문자에 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2452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2E8F0"/>
                </a:solidFill>
                <a:latin typeface="Calibri"/>
              </a:rPr>
              <a:t>True / False 는 첫 글자가 반드시 대문자입니다.
true, TRUE 라고 쓰면 NameError 가 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파이썬 100강 마스터 클래스 · 018강 비교 연산자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43B"/>
                </a:solidFill>
                <a:latin typeface="Calibri"/>
              </a:rPr>
              <a:t>06.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숫자만? 문자열도 비교할 수 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405890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3108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5963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65963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65963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1600200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string_compare.py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56816"/>
            <a:ext cx="10515600" cy="948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4B8BBE"/>
                </a:solidFill>
                <a:latin typeface="Consolas"/>
              </a:rPr>
              <a:t>print</a:t>
            </a:r>
            <a:r>
              <a:rPr sz="1300">
                <a:solidFill>
                  <a:srgbClr val="E2E8F0"/>
                </a:solidFill>
                <a:latin typeface="Consolas"/>
              </a:rPr>
              <a:t>(</a:t>
            </a:r>
            <a:r>
              <a:rPr sz="1300">
                <a:solidFill>
                  <a:srgbClr val="FDE68A"/>
                </a:solidFill>
                <a:latin typeface="Consolas"/>
              </a:rPr>
              <a:t>"apple"</a:t>
            </a:r>
            <a:r>
              <a:rPr sz="1300">
                <a:solidFill>
                  <a:srgbClr val="E2E8F0"/>
                </a:solidFill>
                <a:latin typeface="Consolas"/>
              </a:rPr>
              <a:t> == </a:t>
            </a:r>
            <a:r>
              <a:rPr sz="1300">
                <a:solidFill>
                  <a:srgbClr val="FDE68A"/>
                </a:solidFill>
                <a:latin typeface="Consolas"/>
              </a:rPr>
              <a:t>"Apple"</a:t>
            </a:r>
            <a:r>
              <a:rPr sz="1300">
                <a:solidFill>
                  <a:srgbClr val="E2E8F0"/>
                </a:solidFill>
                <a:latin typeface="Consolas"/>
              </a:rPr>
              <a:t>)</a:t>
            </a:r>
            <a:r>
              <a:rPr sz="1300">
                <a:solidFill>
                  <a:srgbClr val="64748B"/>
                </a:solidFill>
                <a:latin typeface="Consolas"/>
              </a:rPr>
              <a:t>    # False  ← 대소문자를 구분한다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4B8BBE"/>
                </a:solidFill>
                <a:latin typeface="Consolas"/>
              </a:rPr>
              <a:t>print</a:t>
            </a:r>
            <a:r>
              <a:rPr sz="1300">
                <a:solidFill>
                  <a:srgbClr val="E2E8F0"/>
                </a:solidFill>
                <a:latin typeface="Consolas"/>
              </a:rPr>
              <a:t>(</a:t>
            </a:r>
            <a:r>
              <a:rPr sz="1300">
                <a:solidFill>
                  <a:srgbClr val="FDE68A"/>
                </a:solidFill>
                <a:latin typeface="Consolas"/>
              </a:rPr>
              <a:t>"apple"</a:t>
            </a:r>
            <a:r>
              <a:rPr sz="1300">
                <a:solidFill>
                  <a:srgbClr val="E2E8F0"/>
                </a:solidFill>
                <a:latin typeface="Consolas"/>
              </a:rPr>
              <a:t> == </a:t>
            </a:r>
            <a:r>
              <a:rPr sz="1300">
                <a:solidFill>
                  <a:srgbClr val="FDE68A"/>
                </a:solidFill>
                <a:latin typeface="Consolas"/>
              </a:rPr>
              <a:t>"apple"</a:t>
            </a:r>
            <a:r>
              <a:rPr sz="1300">
                <a:solidFill>
                  <a:srgbClr val="E2E8F0"/>
                </a:solidFill>
                <a:latin typeface="Consolas"/>
              </a:rPr>
              <a:t>)</a:t>
            </a:r>
            <a:r>
              <a:rPr sz="1300">
                <a:solidFill>
                  <a:srgbClr val="4ADE80"/>
                </a:solidFill>
                <a:latin typeface="Consolas"/>
              </a:rPr>
              <a:t>    # True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4B8BBE"/>
                </a:solidFill>
                <a:latin typeface="Consolas"/>
              </a:rPr>
              <a:t>print</a:t>
            </a:r>
            <a:r>
              <a:rPr sz="1300">
                <a:solidFill>
                  <a:srgbClr val="E2E8F0"/>
                </a:solidFill>
                <a:latin typeface="Consolas"/>
              </a:rPr>
              <a:t>(</a:t>
            </a:r>
            <a:r>
              <a:rPr sz="1300">
                <a:solidFill>
                  <a:srgbClr val="FDE68A"/>
                </a:solidFill>
                <a:latin typeface="Consolas"/>
              </a:rPr>
              <a:t>"apple"</a:t>
            </a:r>
            <a:r>
              <a:rPr sz="1300">
                <a:solidFill>
                  <a:srgbClr val="E2E8F0"/>
                </a:solidFill>
                <a:latin typeface="Consolas"/>
              </a:rPr>
              <a:t> &lt; </a:t>
            </a:r>
            <a:r>
              <a:rPr sz="1300">
                <a:solidFill>
                  <a:srgbClr val="FDE68A"/>
                </a:solidFill>
                <a:latin typeface="Consolas"/>
              </a:rPr>
              <a:t>"banana"</a:t>
            </a:r>
            <a:r>
              <a:rPr sz="1300">
                <a:solidFill>
                  <a:srgbClr val="E2E8F0"/>
                </a:solidFill>
                <a:latin typeface="Consolas"/>
              </a:rPr>
              <a:t>)</a:t>
            </a:r>
            <a:r>
              <a:rPr sz="1300">
                <a:solidFill>
                  <a:srgbClr val="64748B"/>
                </a:solidFill>
                <a:latin typeface="Consolas"/>
              </a:rPr>
              <a:t>   # True   ← 사전(알파벳) 순서로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10881360" cy="2148840"/>
          </a:xfrm>
          <a:prstGeom prst="roundRect">
            <a:avLst>
              <a:gd name="adj" fmla="val 5000"/>
            </a:avLst>
          </a:prstGeom>
          <a:solidFill>
            <a:srgbClr val="1621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4069080"/>
            <a:ext cx="219456" cy="219456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9136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B7185"/>
                </a:solidFill>
                <a:latin typeface="Calibri"/>
              </a:rPr>
              <a:t>타입이 다르면?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370832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print(10 == "10")   →   False       숫자 10과 문자열 "10"은 서로 다른 값입니다.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print(10 &gt; "5")     →   TypeError   크기 비교는 아예 불가능합니다.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사용자 입력값(input)은 항상 문자열이므로, 숫자와 비교하려면 int()로 바꿔야 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파이썬 100강 마스터 클래스 · 018강 비교 연산자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43B"/>
                </a:solidFill>
                <a:latin typeface="Calibri"/>
              </a:rPr>
              <a:t>07. 실전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실제로 이럴 때 씁니다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43B"/>
                </a:solidFill>
                <a:latin typeface="Calibri"/>
              </a:rPr>
              <a:t>① 로그인 비밀번호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837944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349240" cy="3108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97967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7967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197967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1920239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login.py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76856"/>
            <a:ext cx="4983479" cy="1380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saved_pw = </a:t>
            </a:r>
            <a:r>
              <a:rPr sz="1200">
                <a:solidFill>
                  <a:srgbClr val="FDE68A"/>
                </a:solidFill>
                <a:latin typeface="Consolas"/>
              </a:rPr>
              <a:t>"python123"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input_pw = </a:t>
            </a:r>
            <a:r>
              <a:rPr sz="1200">
                <a:solidFill>
                  <a:srgbClr val="FDE68A"/>
                </a:solidFill>
                <a:latin typeface="Consolas"/>
              </a:rPr>
              <a:t>"python123"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4B8BBE"/>
                </a:solidFill>
                <a:latin typeface="Consolas"/>
              </a:rPr>
              <a:t>print</a:t>
            </a:r>
            <a:r>
              <a:rPr sz="1200">
                <a:solidFill>
                  <a:srgbClr val="E2E8F0"/>
                </a:solidFill>
                <a:latin typeface="Consolas"/>
              </a:rPr>
              <a:t>(saved_pw == input_pw)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4ADE80"/>
                </a:solidFill>
                <a:latin typeface="Consolas"/>
              </a:rPr>
              <a:t># True → 로그인 성공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481328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B8BBE"/>
                </a:solidFill>
                <a:latin typeface="Calibri"/>
              </a:rPr>
              <a:t>② 게임 체력(HP) 판정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349240" cy="1837944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349240" cy="31089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9360" y="1979676"/>
            <a:ext cx="100584" cy="10058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3096" y="1979676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56832" y="1979676"/>
            <a:ext cx="100584" cy="10058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1920239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game.py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276856"/>
            <a:ext cx="4983479" cy="1380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hp = </a:t>
            </a:r>
            <a:r>
              <a:rPr sz="1200">
                <a:solidFill>
                  <a:srgbClr val="93C5FD"/>
                </a:solidFill>
                <a:latin typeface="Consolas"/>
              </a:rPr>
              <a:t>0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4B8BBE"/>
                </a:solidFill>
                <a:latin typeface="Consolas"/>
              </a:rPr>
              <a:t>print</a:t>
            </a:r>
            <a:r>
              <a:rPr sz="1200">
                <a:solidFill>
                  <a:srgbClr val="E2E8F0"/>
                </a:solidFill>
                <a:latin typeface="Consolas"/>
              </a:rPr>
              <a:t>(hp &lt;= </a:t>
            </a:r>
            <a:r>
              <a:rPr sz="1200">
                <a:solidFill>
                  <a:srgbClr val="93C5FD"/>
                </a:solidFill>
                <a:latin typeface="Consolas"/>
              </a:rPr>
              <a:t>0</a:t>
            </a:r>
            <a:r>
              <a:rPr sz="12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FB7185"/>
                </a:solidFill>
                <a:latin typeface="Consolas"/>
              </a:rPr>
              <a:t># True → 게임 오버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1621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" y="5138928"/>
            <a:ext cx="219456" cy="21945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48646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E2E8F0"/>
                </a:solidFill>
                <a:latin typeface="Calibri"/>
              </a:rPr>
              <a:t>지금은 True / False 를 화면에 출력만 했습니다.
곧 배울 if 문과 만나는 순간, 이 값은 프로그램의 흐름을 바꾸는 '스위치'가 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파이썬 100강 마스터 클래스 · 018강 비교 연산자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43B"/>
                </a:solidFill>
                <a:latin typeface="Calibri"/>
              </a:rPr>
              <a:t>08. 이것만은 조심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비교 연산자 3대 함정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02152" cy="324612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1810512"/>
            <a:ext cx="310896" cy="310896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B7185"/>
                </a:solidFill>
                <a:latin typeface="Calibri"/>
              </a:rPr>
              <a:t>!= 를  =! 로 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느낌표가 반드시 앞!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a != b   (O)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a =! b   (X)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02152" cy="324612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2" y="1810512"/>
            <a:ext cx="310896" cy="310896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47088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042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43B"/>
                </a:solidFill>
                <a:latin typeface="Calibri"/>
              </a:rPr>
              <a:t>기호 사이 띄어쓰기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78892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&gt;= 는 붙여 씁니다.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a &gt;= b   (O)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a &gt; = b  (X) SyntaxError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502152" cy="3246120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2752" y="1810512"/>
            <a:ext cx="310896" cy="310896"/>
          </a:xfrm>
          <a:prstGeom prst="ellipse">
            <a:avLst/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847088"/>
            <a:ext cx="3108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3042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B8BBE"/>
                </a:solidFill>
                <a:latin typeface="Calibri"/>
              </a:rPr>
              <a:t>실수(float)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78892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0.1 + 0.2 == 0.3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→ False (부동소수점 오차)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9강 내용 복습!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1621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3036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실수를 비교할 때는  a == b  대신  abs(a - b) &lt; 0.000001  처럼 오차를 감안해야 안전합니다.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파이썬 100강 마스터 클래스 · 018강 비교 연산자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43B"/>
                </a:solidFill>
                <a:latin typeface="Calibri"/>
              </a:rPr>
              <a:t>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2E8F0"/>
                </a:solidFill>
                <a:latin typeface="Calibri"/>
              </a:rPr>
              <a:t>018강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947672"/>
            <a:ext cx="146304" cy="146304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8470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비교 연산자는 6가지 —  ==   !=   &gt;   &lt;   &gt;=   &lt;=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162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816352"/>
            <a:ext cx="146304" cy="146304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7157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결과는 언제나 True 또는 False 단 두 가지 (자료형: bool)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1B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685032"/>
            <a:ext cx="146304" cy="146304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584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=  는 대입(명령),  ==  는 비교(질문) — 가장 흔한 실수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162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553712"/>
            <a:ext cx="146304" cy="146304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4531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&gt;(초과) 와 &gt;=(이상) 의 경계값 차이에 항상 주의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B8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41324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B8BBE"/>
                </a:solidFill>
                <a:latin typeface="Calibri"/>
              </a:rPr>
              <a:t>019강 예고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5413248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Calibri"/>
              </a:rPr>
              <a:t>논리 연산자 (and, or, not) — 여러 개의 조건을 하나로 묶는 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